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46304" cy="182880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100584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基于机器视觉与机器学习的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汽车零部件表面缺陷智能检测系统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61188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FD7F2"/>
                </a:solidFill>
                <a:latin typeface="微软雅黑"/>
              </a:rPr>
              <a:t>B/S + C/S 双客户端 · NEU 表面缺陷数据库 · OpenCV + 随机森林 + SPC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4526280"/>
            <a:ext cx="100584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</a:rPr>
              <a:t>制造智能技术 课程设计答辩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BFD7F2"/>
                </a:solidFill>
                <a:latin typeface="微软雅黑"/>
              </a:rPr>
              <a:t>班级：________   学号：________   姓名：________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BFD7F2"/>
                </a:solidFill>
                <a:latin typeface="微软雅黑"/>
              </a:rPr>
              <a:t>指导教师：________      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目录  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39" y="1545336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研究背景与意义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人工质检痛点与智能化需求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45336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研究目标与技术方向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三个课程技术方向映射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24328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24328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24328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39" y="2752344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系统总体架构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B/S+C/S 双端架构与技术栈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24328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624328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24328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52344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数据集构建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NEU 六类表面缺陷数据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31336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831336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31336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39" y="3959352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核心算法设计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传统视觉 / 机器学习 / SPC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31336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3831336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31336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959352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系统实现与调试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界面展示、测试与AI披露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38344"/>
            <a:ext cx="5394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038344"/>
            <a:ext cx="86868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38344"/>
            <a:ext cx="86868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39" y="5166359"/>
            <a:ext cx="4206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总结与展望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5F6B"/>
                </a:solidFill>
                <a:latin typeface="微软雅黑"/>
              </a:rPr>
              <a:t>完成情况与后续改进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研究背景与意义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质量控制环节的智能化升级需求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09728"/>
          </a:xfrm>
          <a:prstGeom prst="roundRect">
            <a:avLst/>
          </a:prstGeom>
          <a:solidFill>
            <a:srgbClr val="E34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34D59"/>
                </a:solidFill>
                <a:latin typeface="微软雅黑"/>
              </a:rPr>
              <a:t>漏检率高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1089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人工目视长时间作业，行业漏检率约 5%~15%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520440" cy="109728"/>
          </a:xfrm>
          <a:prstGeom prst="round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4592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A23C"/>
                </a:solidFill>
                <a:latin typeface="微软雅黑"/>
              </a:rPr>
              <a:t>数据难沉淀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1089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缺陷靠纸质记录，质量追溯与统计困难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520440" cy="109728"/>
          </a:xfrm>
          <a:prstGeom prst="round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4592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A23C"/>
                </a:solidFill>
                <a:latin typeface="微软雅黑"/>
              </a:rPr>
              <a:t>工艺缺依据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94560"/>
            <a:ext cx="31089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缺陷规律无法量化，工艺改进缺数据支撑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83280"/>
            <a:ext cx="10927080" cy="137160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104241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解决思路：</a:t>
            </a:r>
            <a:r>
              <a:rPr sz="1400" b="0">
                <a:solidFill>
                  <a:srgbClr val="163A5F"/>
                </a:solidFill>
                <a:latin typeface="微软雅黑"/>
              </a:rPr>
              <a:t>以机器视觉替代人眼、以机器学习替代经验判断、以数据库与统计看板替代纸质记录，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3A5F"/>
                </a:solidFill>
                <a:latin typeface="微软雅黑"/>
              </a:rPr>
              <a:t>构建“上传即检、结果可溯、质量可视”的 B/S 检测系统，对应《中国制造2025》质量管控环节的典型落地场景。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927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4241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17AD9"/>
                </a:solidFill>
                <a:latin typeface="微软雅黑"/>
              </a:rPr>
              <a:t>研究意义：</a:t>
            </a:r>
            <a:r>
              <a:rPr sz="1300" b="0">
                <a:solidFill>
                  <a:srgbClr val="163A5F"/>
                </a:solidFill>
                <a:latin typeface="微软雅黑"/>
              </a:rPr>
              <a:t>①工程上验证“传统视觉+轻量分类器”在工业质检的可行性；②教学上把图像处理、机器学习、SPC 三块知识在一个完整系统中打通；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③可扩展，后续可替换为 YOLO/ResNet 深度模型或接入 MQTT/PLC 执行分拣。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研究目标与技术方向映射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覆盖课程至少 3 个技术方向，均为系统真实功能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研究目标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084831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7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1645920"/>
            <a:ext cx="1938528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3A5F"/>
                </a:solidFill>
                <a:latin typeface="微软雅黑"/>
              </a:rPr>
              <a:t>对 NEU 六类缺陷自动分类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1645920"/>
            <a:ext cx="2084831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7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1645920"/>
            <a:ext cx="1938528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3A5F"/>
                </a:solidFill>
                <a:latin typeface="微软雅黑"/>
              </a:rPr>
              <a:t>OpenCV 定位缺陷外接矩形区域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2084831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7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1645920"/>
            <a:ext cx="1938528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3A5F"/>
                </a:solidFill>
                <a:latin typeface="微软雅黑"/>
              </a:rPr>
              <a:t>机器学习判定类别并输出置信度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6056" y="1645920"/>
            <a:ext cx="2084831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7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1645920"/>
            <a:ext cx="1938528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3A5F"/>
                </a:solidFill>
                <a:latin typeface="微软雅黑"/>
              </a:rPr>
              <a:t>Web 看板展示合格率/分布/SPC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8048" y="1645920"/>
            <a:ext cx="2084831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7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645920"/>
            <a:ext cx="1938528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3A5F"/>
                </a:solidFill>
                <a:latin typeface="微软雅黑"/>
              </a:rPr>
              <a:t>检测记录持久化、支持历史查询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2606040"/>
          <a:ext cx="10927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44068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技术方向</a:t>
                      </a:r>
                    </a:p>
                  </a:txBody>
                  <a:tcPr anchor="ctr">
                    <a:solidFill>
                      <a:srgbClr val="217A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对应课程章节</a:t>
                      </a:r>
                    </a:p>
                  </a:txBody>
                  <a:tcPr anchor="ctr">
                    <a:solidFill>
                      <a:srgbClr val="217A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在系统中的实际作用</a:t>
                      </a:r>
                    </a:p>
                  </a:txBody>
                  <a:tcPr anchor="ctr">
                    <a:solidFill>
                      <a:srgbClr val="217AD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① 数字图像处理/机器视觉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预处理、阈值分割、形态学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灰度化→高斯去噪→Otsu→形态学→轮廓，定位缺陷框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② 机器学习缺陷分类</a:t>
                      </a:r>
                    </a:p>
                  </a:txBody>
                  <a:tcPr anchor="ctr">
                    <a:solidFill>
                      <a:srgbClr val="EC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特征工程、随机森林</a:t>
                      </a:r>
                    </a:p>
                  </a:txBody>
                  <a:tcPr anchor="ctr">
                    <a:solidFill>
                      <a:srgbClr val="EC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几何+灰度特征判定 6 类缺陷，输出置信度与等级</a:t>
                      </a:r>
                    </a:p>
                  </a:txBody>
                  <a:tcPr anchor="ctr">
                    <a:solidFill>
                      <a:srgbClr val="ECF2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③ 工业大数据与SPC统计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统计过程控制、质量分析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合格率、缺陷分布、单值控制图 UCL/CL/LCL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④ 软件体系结构 B/S+C/S</a:t>
                      </a:r>
                    </a:p>
                  </a:txBody>
                  <a:tcPr anchor="ctr">
                    <a:solidFill>
                      <a:srgbClr val="EC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C/S与B/S架构、HTTP/REST</a:t>
                      </a:r>
                    </a:p>
                  </a:txBody>
                  <a:tcPr anchor="ctr">
                    <a:solidFill>
                      <a:srgbClr val="EC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3A5F"/>
                          </a:solidFill>
                          <a:latin typeface="微软雅黑"/>
                        </a:rPr>
                        <a:t>同一 FastAPI 服务器同时服务浏览器(B/S)与 tkinter 桌面客户端(C/S)</a:t>
                      </a:r>
                    </a:p>
                  </a:txBody>
                  <a:tcPr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系统总体架构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B/S + C/S 双客户端架构 · 前后端分离 · 模块化解耦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17320"/>
            <a:ext cx="996696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417320"/>
            <a:ext cx="2103120" cy="896112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2103120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客户端层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7498079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B/S：index.html 浏览器  |  C/S：client/desktop_client.py（tkinter 桌面），均通过 HTTP 调用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2313432"/>
            <a:ext cx="548640" cy="182880"/>
          </a:xfrm>
          <a:prstGeom prst="down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496312"/>
            <a:ext cx="996696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9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496312"/>
            <a:ext cx="2103120" cy="896112"/>
          </a:xfrm>
          <a:prstGeom prst="roundRect">
            <a:avLst/>
          </a:prstGeom>
          <a:solidFill>
            <a:srgbClr val="3E9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96312"/>
            <a:ext cx="2103120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接口层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96312"/>
            <a:ext cx="7498079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FastAPI：POST /api/detect · GET /api/history · GET /api/stats · GET /api/health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06440" y="3392424"/>
            <a:ext cx="548640" cy="182880"/>
          </a:xfrm>
          <a:prstGeom prst="down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575304"/>
            <a:ext cx="996696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A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3575304"/>
            <a:ext cx="2103120" cy="896112"/>
          </a:xfrm>
          <a:prstGeom prst="round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75304"/>
            <a:ext cx="2103120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算法层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575304"/>
            <a:ext cx="7498079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traditional_cv.py  |  classifier.py  |  stats.py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06440" y="4471416"/>
            <a:ext cx="548640" cy="182880"/>
          </a:xfrm>
          <a:prstGeom prst="down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654296"/>
            <a:ext cx="996696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4654296"/>
            <a:ext cx="2103120" cy="896112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54296"/>
            <a:ext cx="2103120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654296"/>
            <a:ext cx="7498079" cy="8961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SQLite：inspection_records（类别/置信度/等级/缺陷框/特征）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79008"/>
            <a:ext cx="9966960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7AD9"/>
                </a:solidFill>
                <a:latin typeface="微软雅黑"/>
              </a:rPr>
              <a:t>技术栈：</a:t>
            </a:r>
            <a:r>
              <a:rPr sz="1250" b="0">
                <a:solidFill>
                  <a:srgbClr val="163A5F"/>
                </a:solidFill>
                <a:latin typeface="微软雅黑"/>
              </a:rPr>
              <a:t>FastAPI + Uvicorn（后端） · SQLite（数据库） · OpenCV + scikit-learn（算法） · 原生HTML/JS + ECharts（B/S 前端） · tkinter（C/S 桌面端）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数据集构建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NEU 东北大学表面缺陷数据库（公开工业数据集）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3A5F"/>
                </a:solidFill>
                <a:latin typeface="微软雅黑"/>
              </a:rPr>
              <a:t>规模：6 类 × 300 张 = 1800 张，200×200 灰度 bmp；预处理 resize 至 224×224，按 8:2 划分 train/val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28016" cy="123444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3108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裂纹  </a:t>
            </a:r>
            <a:r>
              <a:rPr sz="1200" b="0">
                <a:solidFill>
                  <a:srgbClr val="555F6B"/>
                </a:solidFill>
                <a:latin typeface="微软雅黑"/>
              </a:rPr>
              <a:t>crazing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细长线状、低灰度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520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128016" cy="123444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892807"/>
            <a:ext cx="3108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夹杂  </a:t>
            </a:r>
            <a:r>
              <a:rPr sz="1200" b="0">
                <a:solidFill>
                  <a:srgbClr val="555F6B"/>
                </a:solidFill>
                <a:latin typeface="微软雅黑"/>
              </a:rPr>
              <a:t>inclusion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不规则小块、灰度不均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83080"/>
            <a:ext cx="3520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128016" cy="123444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92807"/>
            <a:ext cx="3108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斑块  </a:t>
            </a:r>
            <a:r>
              <a:rPr sz="1200" b="0">
                <a:solidFill>
                  <a:srgbClr val="555F6B"/>
                </a:solidFill>
                <a:latin typeface="微软雅黑"/>
              </a:rPr>
              <a:t>patches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大面积、高对比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128016" cy="123444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0128"/>
            <a:ext cx="3108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麻点  </a:t>
            </a:r>
            <a:r>
              <a:rPr sz="1200" b="0">
                <a:solidFill>
                  <a:srgbClr val="555F6B"/>
                </a:solidFill>
                <a:latin typeface="微软雅黑"/>
              </a:rPr>
              <a:t>pitted_surface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多个小坑点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00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200400"/>
            <a:ext cx="128016" cy="123444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310128"/>
            <a:ext cx="3108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轧入氧化皮  </a:t>
            </a:r>
            <a:r>
              <a:rPr sz="1200" b="0">
                <a:solidFill>
                  <a:srgbClr val="555F6B"/>
                </a:solidFill>
                <a:latin typeface="微软雅黑"/>
              </a:rPr>
              <a:t>rolled-in_scale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大面积纹理状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200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200400"/>
            <a:ext cx="128016" cy="123444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310128"/>
            <a:ext cx="310896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63A5F"/>
                </a:solidFill>
                <a:latin typeface="微软雅黑"/>
              </a:rPr>
              <a:t>划痕  </a:t>
            </a:r>
            <a:r>
              <a:rPr sz="1200" b="0">
                <a:solidFill>
                  <a:srgbClr val="555F6B"/>
                </a:solidFill>
                <a:latin typeface="微软雅黑"/>
              </a:rPr>
              <a:t>scratches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细长亮/暗线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10927080" cy="132588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4241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17AD9"/>
                </a:solidFill>
                <a:latin typeface="微软雅黑"/>
              </a:rPr>
              <a:t>数据来源（双源备份）：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官方 http://faculty.neu.edu.cn/songkechen/zh_CN/zdylm/263270/list/index.htm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Kaggle 镜像 https://www.kaggle.com/datasets/kaustubhdikshit/neu-surface-defect-database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原始图片体积大不入库，仓库内提供 preprocess.py 预处理脚本与 data/README.md 说明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核心算法① 数字图像处理与传统机器视觉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OpenCV 缺陷区域定位流水线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481328" cy="86868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彩色图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4248" y="1847088"/>
            <a:ext cx="18288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7128" y="1554480"/>
            <a:ext cx="1481328" cy="868680"/>
          </a:xfrm>
          <a:prstGeom prst="roundRect">
            <a:avLst/>
          </a:prstGeom>
          <a:solidFill>
            <a:srgbClr val="3E9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7128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灰度化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48456" y="1847088"/>
            <a:ext cx="18288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31336" y="1554480"/>
            <a:ext cx="1481328" cy="86868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高斯模糊
5×5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12664" y="1847088"/>
            <a:ext cx="18288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95544" y="1554480"/>
            <a:ext cx="1481328" cy="868680"/>
          </a:xfrm>
          <a:prstGeom prst="roundRect">
            <a:avLst/>
          </a:prstGeom>
          <a:solidFill>
            <a:srgbClr val="3E9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95544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Otsu
自适应阈值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76872" y="1847088"/>
            <a:ext cx="18288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59752" y="1554480"/>
            <a:ext cx="1481328" cy="86868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形态学
开闭运算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41080" y="1847088"/>
            <a:ext cx="18288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23960" y="1554480"/>
            <a:ext cx="1481328" cy="868680"/>
          </a:xfrm>
          <a:prstGeom prst="roundRect">
            <a:avLst/>
          </a:prstGeom>
          <a:solidFill>
            <a:srgbClr val="3E9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findContours
轮廓提取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305288" y="1847088"/>
            <a:ext cx="18288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88168" y="1554480"/>
            <a:ext cx="1481328" cy="86868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88168" y="1554480"/>
            <a:ext cx="1481328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几何特征
计算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834640"/>
            <a:ext cx="539496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999232"/>
            <a:ext cx="49377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提取的几何/灰度特征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缺陷面积、面积占比 area_ratio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周长、最小外接矩形长宽比 aspect_ratio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矩形度 extent（面积/外接矩形面积）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缺陷区域灰度均值 mean、标准差 std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连通块数量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834640"/>
            <a:ext cx="53035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999232"/>
            <a:ext cx="484632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关键参数与处理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面积过滤 20 &lt; area &lt; 0.4·H·W：剔除椒盐噪点与整图误检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Otsu 自动求阈值，避免人工阈值在不同光照下失效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开运算去散点噪点、闭运算填补缺陷内部空洞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输出红色外接矩形框，作为分类模块的输入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核心算法② 机器学习缺陷分类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特征工程 + 随机森林，缺权重时规则分类兜底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5 维特征向量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area_ratio  面积占比 → 区分斑块/氧化皮（大）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aspect_ratio 长宽比 → 区分划痕/裂纹（细长）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gray_std 灰度标准差 → 区分夹杂/麻点（纹理乱）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th_mean 二值前景占比 → 整体缺陷程度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n_cnt 连通块数量 → 麻点多、划痕少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84632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两级推理策略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① 有 rf_model.json：随机森林/特征中心最近邻判定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② 无权重：规则分类兜底，保证现场可演示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   长宽比&gt;4 → 划痕；面积比&gt;0.15 → 斑块 …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训练脚本 train_classifier.py 在 NEU 上训 RF(n=100)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并输出 8:2 划分下的 classification_report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3520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1280160" cy="9601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2801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良品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86200"/>
            <a:ext cx="21031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63A5F"/>
                </a:solidFill>
                <a:latin typeface="微软雅黑"/>
              </a:rPr>
              <a:t>面积比&lt;0.3% 且灰度差小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886200"/>
            <a:ext cx="3520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A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3886200"/>
            <a:ext cx="1280160" cy="960120"/>
          </a:xfrm>
          <a:prstGeom prst="round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886200"/>
            <a:ext cx="12801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轻微缺陷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886200"/>
            <a:ext cx="21031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63A5F"/>
                </a:solidFill>
                <a:latin typeface="微软雅黑"/>
              </a:rPr>
              <a:t>面积比 0.3%~10%（可返工）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4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3886200"/>
            <a:ext cx="1280160" cy="960120"/>
          </a:xfrm>
          <a:prstGeom prst="roundRect">
            <a:avLst/>
          </a:prstGeom>
          <a:solidFill>
            <a:srgbClr val="E34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886200"/>
            <a:ext cx="12801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严重缺陷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886200"/>
            <a:ext cx="21031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63A5F"/>
                </a:solidFill>
                <a:latin typeface="微软雅黑"/>
              </a:rPr>
              <a:t>面积比 &gt;10%（报废）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927080" cy="96012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0368"/>
            <a:ext cx="1042416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17AD9"/>
                </a:solidFill>
                <a:latin typeface="微软雅黑"/>
              </a:rPr>
              <a:t>方案论证：</a:t>
            </a:r>
            <a:r>
              <a:rPr sz="1250" b="0">
                <a:solidFill>
                  <a:srgbClr val="163A5F"/>
                </a:solidFill>
                <a:latin typeface="微软雅黑"/>
              </a:rPr>
              <a:t>NEU 六类在“长宽比、面积占比、灰度方差”上区分度明显；传统视觉+轻量分类器轻量、可解释、无需大量标注，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契合课程周期与硬件条件；纯深度学习 YOLO 端到端但需大量标注与训练，作为后续升级方向。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核心算法③ 工业大数据与 SPC 质量统计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历史记录聚合，支撑质量追溯与工艺监控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097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1089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17AD9"/>
                </a:solidFill>
                <a:latin typeface="微软雅黑"/>
              </a:rPr>
              <a:t>合格率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良品数 / 总检测数，实时刷新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520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520440" cy="109728"/>
          </a:xfrm>
          <a:prstGeom prst="round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31089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6A23C"/>
                </a:solidFill>
                <a:latin typeface="微软雅黑"/>
              </a:rPr>
              <a:t>缺陷分布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按 6 类 + 良品计数，柱状图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5204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520440" cy="109728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45920"/>
            <a:ext cx="31089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E9E5B"/>
                </a:solidFill>
                <a:latin typeface="微软雅黑"/>
              </a:rPr>
              <a:t>SPC 控制图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5F6B"/>
                </a:solidFill>
                <a:latin typeface="微软雅黑"/>
              </a:rPr>
              <a:t>面积占比单值序列 + 三条控制线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10927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104241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SPC 单值控制图原理（统计过程控制）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3A5F"/>
                </a:solidFill>
                <a:latin typeface="微软雅黑"/>
              </a:rPr>
              <a:t>CL  = 缺陷面积占比序列的均值（中心线）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3A5F"/>
                </a:solidFill>
                <a:latin typeface="微软雅黑"/>
              </a:rPr>
              <a:t>UCL / LCL = 均值 ± 3σ（总体标准差），点越限即提示工艺漂移、需介入排查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927080" cy="137160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424160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17AD9"/>
                </a:solidFill>
                <a:latin typeface="微软雅黑"/>
              </a:rPr>
              <a:t>数据闭环：</a:t>
            </a:r>
            <a:r>
              <a:rPr sz="1300" b="0">
                <a:solidFill>
                  <a:srgbClr val="163A5F"/>
                </a:solidFill>
                <a:latin typeface="微软雅黑"/>
              </a:rPr>
              <a:t>每次检测的时间、类别、置信度、等级、面积占比、缺陷框、原始特征均写入 SQLite；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看板与历史表从同一数据库聚合，实现“检测—存储—统计—追溯”闭环，替代纸质质检记录。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系统实现与界面设计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B/S 浏览器 + C/S 桌面客户端，双界面走通完整业务流程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057400" cy="73152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2057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上传零件图片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1600200"/>
            <a:ext cx="22860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371600"/>
            <a:ext cx="2057400" cy="73152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371600"/>
            <a:ext cx="2057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后端算法检测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2040" y="1600200"/>
            <a:ext cx="22860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2057400" cy="73152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371600"/>
            <a:ext cx="2057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返回类别+缺陷框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78040" y="1600200"/>
            <a:ext cx="22860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2057400" cy="73152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371600"/>
            <a:ext cx="2057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写入数据库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64040" y="1600200"/>
            <a:ext cx="228600" cy="27432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92640" y="1371600"/>
            <a:ext cx="2057400" cy="731520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371600"/>
            <a:ext cx="20574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</a:rPr>
              <a:t>看板/历史刷新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14600"/>
            <a:ext cx="5349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514600"/>
            <a:ext cx="128016" cy="13716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2679192"/>
            <a:ext cx="49377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63A5F"/>
                </a:solidFill>
                <a:latin typeface="微软雅黑"/>
              </a:rPr>
              <a:t>图像区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左：原始图  右：检测结果（红色缺陷框）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14600"/>
            <a:ext cx="5349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514600"/>
            <a:ext cx="128016" cy="13716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679192"/>
            <a:ext cx="49377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63A5F"/>
                </a:solidFill>
                <a:latin typeface="微软雅黑"/>
              </a:rPr>
              <a:t>判定信息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缺陷中英文类别、置信度、等级标签（绿/黄/红）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5349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114800"/>
            <a:ext cx="128016" cy="13716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279392"/>
            <a:ext cx="49377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63A5F"/>
                </a:solidFill>
                <a:latin typeface="微软雅黑"/>
              </a:rPr>
              <a:t>质量看板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缺陷分布柱状图 + SPC 控制图（ECharts）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114800"/>
            <a:ext cx="5349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114800"/>
            <a:ext cx="128016" cy="13716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279392"/>
            <a:ext cx="493776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63A5F"/>
                </a:solidFill>
                <a:latin typeface="微软雅黑"/>
              </a:rPr>
              <a:t>历史记录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F6B"/>
                </a:solidFill>
                <a:latin typeface="微软雅黑"/>
              </a:rPr>
              <a:t>最近20条：时间/文件/类别/置信度/等级/面积占比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779008"/>
            <a:ext cx="10927080" cy="566928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77900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7AD9"/>
                </a:solidFill>
                <a:latin typeface="微软雅黑"/>
              </a:rPr>
              <a:t>双端同源：</a:t>
            </a:r>
            <a:r>
              <a:rPr sz="1250" b="0">
                <a:solidFill>
                  <a:srgbClr val="163A5F"/>
                </a:solidFill>
                <a:latin typeface="微软雅黑"/>
              </a:rPr>
              <a:t>浏览器(B/S)与桌面客户端(C/S)调用同一套 FastAPI 接口、共用同一 SQLite 数据库，检测记录与看板实时一致。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集成调试与测试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问题定位、修复与冒烟测试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492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37160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37160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启动验证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39" y="1371600"/>
            <a:ext cx="3749039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python run.py 起服务，浏览器访问 127.0.0.1:8000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492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1371600" cy="1024128"/>
          </a:xfrm>
          <a:prstGeom prst="round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71600"/>
            <a:ext cx="137160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接口测试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371600"/>
            <a:ext cx="3749039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tests/test_api.py 校验 /api/stats、/api/history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06040"/>
            <a:ext cx="53492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1371600" cy="1024128"/>
          </a:xfrm>
          <a:prstGeom prst="round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06040"/>
            <a:ext cx="137160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算法验证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39" y="2606040"/>
            <a:ext cx="3749039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合成划痕/良品/斑块三类测试图，核对分类结果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06040"/>
            <a:ext cx="53492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606040"/>
            <a:ext cx="1371600" cy="1024128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606040"/>
            <a:ext cx="1371600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全链路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06040"/>
            <a:ext cx="3749039" cy="10241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63A5F"/>
                </a:solidFill>
                <a:latin typeface="微软雅黑"/>
              </a:rPr>
              <a:t>TestClient 走 上传→检测→入库→统计 完整流程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39"/>
            <a:ext cx="10927080" cy="210312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1042416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调试中发现并修复的典型问题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① 统计接口 KeyError：数据库存英文 defect_class，统计层误取中文 defect_cn → 增加类别映射统一；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② 长宽比算反（短边/长边）导致细长划痕被判麻点 → 改为长边/短边，划痕 aspect=51.5 正确识别；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③ OpenCV 在 Windows 中文路径读图失败 → 改用 np.frombuffer + imdecode 从字节流解码；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④ 初版前端为纯静态“点按钮换图”，不满足业务闭环 → 重写为调用后端 API 的真实检测。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AI 使用披露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55F6B"/>
                </a:solidFill>
                <a:latin typeface="微软雅黑"/>
              </a:rPr>
              <a:t>全程 AI 辅助、人工理解与把关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493776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所用工具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Harness：Trae IDE（备选 Claude Code / 通义灵码）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模型：DeepSeek-V4（代码）、GLM-5.3（文档润色）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版本管理：Git + GitHub，小步提交、语义化说明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对话记录：prompt/ai_record.json 全程追溯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48463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17AD9"/>
                </a:solidFill>
                <a:latin typeface="微软雅黑"/>
              </a:rPr>
              <a:t>关键 Prompt 策略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三段式：任务拆解 + 约束说明 + 验收标准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上下文工程：先让 AI 读现有代码再改，避免不兼容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规格驱动：需求→计划→分步实现→逐步跑测试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每个模块写完立即 import/语法验证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27080" cy="214884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42416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34D59"/>
                </a:solidFill>
                <a:latin typeface="微软雅黑"/>
              </a:rPr>
              <a:t>AI 出错案例与人工纠正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AI 初版把数据集写成 KolektorSDD2，与实际选用的 NEU 不符 → 人工核对后全部改回 NEU 六类；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AI 初版前端引入 jQuery，为降低依赖人工要求改为原生 JS；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FastAPI 静态文件路径写错导致 404 → 通过浏览器 Network 面板定位，改为在 / 路由直接读取 index.html；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所有 AI 生成代码均经人工阅读理解，报告内容为本人消化后重写，不直接照搬。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217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17AD9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"/>
            <a:ext cx="86868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A5F"/>
                </a:solidFill>
                <a:latin typeface="微软雅黑"/>
              </a:rPr>
              <a:t>总结与展望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27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1042416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2E9E5B"/>
                </a:solidFill>
                <a:latin typeface="微软雅黑"/>
              </a:rPr>
              <a:t>已完成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✓ B/S 浏览器端 + C/S tkinter 桌面端，双端跑通完整业务闭环（上传—检测—入库—统计—追溯）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✓ 三个课程技术方向均有真实可运行代码，非装饰性引入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63A5F"/>
                </a:solidFill>
                <a:latin typeface="微软雅黑"/>
              </a:rPr>
              <a:t>✓ SQLite 持久化、ECharts 质量看板、SPC 控制图、自动化冒烟测试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10927080" cy="2377440"/>
          </a:xfrm>
          <a:prstGeom prst="round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42416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E6A23C"/>
                </a:solidFill>
                <a:latin typeface="微软雅黑"/>
              </a:rPr>
              <a:t>不足与展望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当前无 NEU 训练权重时走规则分类，复杂光照下精度有限 → 后续在完整数据集上训练随机森林/ResNet18；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仅画外接矩形、未做像素级缺陷分割掩膜 → 引入 YOLOv8/UNet 提升定位精度；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3A5F"/>
                </a:solidFill>
                <a:latin typeface="微软雅黑"/>
              </a:rPr>
              <a:t>• 未接真实相机与执行机构 → 模型导出 ONNX 边缘部署，经 MQTT 对接 PLC，打通“检测—分拣”物理闭环。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172200"/>
            <a:ext cx="1219169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17AD9"/>
                </a:solidFill>
                <a:latin typeface="微软雅黑"/>
              </a:rPr>
              <a:t>恳请各位老师批评指正！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46520"/>
            <a:ext cx="20116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55F6B"/>
                </a:solidFill>
                <a:latin typeface="微软雅黑"/>
              </a:rPr>
              <a:t>汽车零部件缺陷检测系统  </a:t>
            </a:r>
            <a:r>
              <a:rPr sz="900" b="1">
                <a:solidFill>
                  <a:srgbClr val="217AD9"/>
                </a:solidFill>
                <a:latin typeface="微软雅黑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